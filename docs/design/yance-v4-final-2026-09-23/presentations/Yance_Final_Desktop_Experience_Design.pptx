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6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YANCE · FINAL DESKTOP EXPERIENCE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927080" y="654710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E76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36576"/>
            <a:ext cx="3246120" cy="3246120"/>
          </a:xfrm>
          <a:prstGeom prst="ellipse">
            <a:avLst/>
          </a:prstGeom>
          <a:solidFill>
            <a:srgbClr val="5C2E91">
              <a:alpha val="45000"/>
            </a:srgbClr>
          </a:solidFill>
          <a:ln w="12700">
            <a:solidFill>
              <a:srgbClr val="5C2E91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7C4DFF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710928" y="4407408"/>
            <a:ext cx="2359152" cy="2359152"/>
          </a:xfrm>
          <a:prstGeom prst="ellipse">
            <a:avLst/>
          </a:prstGeom>
          <a:solidFill>
            <a:srgbClr val="1E4960">
              <a:alpha val="30000"/>
            </a:srgbClr>
          </a:solidFill>
          <a:ln w="12700">
            <a:solidFill>
              <a:srgbClr val="1E49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5836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1152E"/>
          </a:solidFill>
          <a:ln w="12700">
            <a:solidFill>
              <a:srgbClr val="5A38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132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FINAL DESIGN PROPOSAL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一场对话，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调动整个言策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32186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YANCE · Final Desktop Experience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6301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Living Relationship OS · Relationship Intelligence Workbench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4160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最终方案：以“人”为第一对象，以“关系”为主工作流，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让关系、记忆、目标、翻译、模型、声音、素材与学习能力全部围绕真实对话协同。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960120"/>
            <a:ext cx="5650992" cy="4901184"/>
          </a:xfrm>
          <a:prstGeom prst="roundRect">
            <a:avLst>
              <a:gd name="adj" fmla="val 2612"/>
            </a:avLst>
          </a:prstGeom>
          <a:solidFill>
            <a:srgbClr val="09080D"/>
          </a:solidFill>
          <a:ln w="12700">
            <a:solidFill>
              <a:srgbClr val="3A2A4A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17336" y="1088136"/>
            <a:ext cx="5394960" cy="594360"/>
          </a:xfrm>
          <a:prstGeom prst="roundRect">
            <a:avLst>
              <a:gd name="adj" fmla="val 21538"/>
            </a:avLst>
          </a:prstGeom>
          <a:solidFill>
            <a:srgbClr val="13101B"/>
          </a:solidFill>
          <a:ln w="12700">
            <a:solidFill>
              <a:srgbClr val="3121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216152"/>
            <a:ext cx="310896" cy="310896"/>
          </a:xfrm>
          <a:prstGeom prst="ellipse">
            <a:avLst/>
          </a:prstGeom>
          <a:solidFill>
            <a:srgbClr val="94765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1179576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Develyn Lania Amangan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02552" y="138988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· 由我回复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10104120" y="1207008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237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7272" y="126187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关系世界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63656" y="120700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427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36808" y="126187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⋯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040880" y="1984248"/>
            <a:ext cx="3438144" cy="393192"/>
          </a:xfrm>
          <a:prstGeom prst="roundRect">
            <a:avLst>
              <a:gd name="adj" fmla="val 32558"/>
            </a:avLst>
          </a:prstGeom>
          <a:solidFill>
            <a:srgbClr val="252932"/>
          </a:solidFill>
          <a:ln w="12700">
            <a:solidFill>
              <a:srgbClr val="36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2075688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9E4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Nähe gibt Geborgenheit. Kann nie nah genug sein.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159752" y="2532888"/>
            <a:ext cx="3035808" cy="393192"/>
          </a:xfrm>
          <a:prstGeom prst="roundRect">
            <a:avLst>
              <a:gd name="adj" fmla="val 32558"/>
            </a:avLst>
          </a:prstGeom>
          <a:solidFill>
            <a:srgbClr val="252932"/>
          </a:solidFill>
          <a:ln w="12700">
            <a:solidFill>
              <a:srgbClr val="363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6056" y="2624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9E4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ich muss mich da erst noch ein bisschen zurechtfinden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775704" y="3721608"/>
            <a:ext cx="4599432" cy="1444752"/>
          </a:xfrm>
          <a:prstGeom prst="roundRect">
            <a:avLst>
              <a:gd name="adj" fmla="val 8861"/>
            </a:avLst>
          </a:prstGeom>
          <a:solidFill>
            <a:srgbClr val="15101E"/>
          </a:solidFill>
          <a:ln w="12700">
            <a:solidFill>
              <a:srgbClr val="4A2B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0296" y="385876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57316F"/>
          </a:solidFill>
          <a:ln w="12700">
            <a:solidFill>
              <a:srgbClr val="AA6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391363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由我回复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940296" y="42336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DA7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6940296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建议回复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8138160" y="4114800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21162A"/>
          </a:solidFill>
          <a:ln w="12700">
            <a:solidFill>
              <a:srgbClr val="5C3E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2702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轻松接住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8247888" y="44988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自然、有温度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528048" y="4114800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1C1B29"/>
          </a:solidFill>
          <a:ln w="12700">
            <a:solidFill>
              <a:srgbClr val="5070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37776" y="42702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好奇引导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9637776" y="44988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延续话题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917936" y="4114800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21162A"/>
          </a:solidFill>
          <a:ln w="12700">
            <a:solidFill>
              <a:srgbClr val="5C3E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27664" y="42702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制造期待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11027664" y="4498848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更有感觉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757416" y="5285232"/>
            <a:ext cx="4626864" cy="384048"/>
          </a:xfrm>
          <a:prstGeom prst="roundRect">
            <a:avLst>
              <a:gd name="adj" fmla="val 33333"/>
            </a:avLst>
          </a:prstGeom>
          <a:solidFill>
            <a:srgbClr val="111019"/>
          </a:solidFill>
          <a:ln w="12700">
            <a:solidFill>
              <a:srgbClr val="3B2D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53858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发送消息…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491472" y="534924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64624" y="540410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自动模型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10305288" y="534924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5404104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0762488" y="534924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35640" y="5404104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9436608" y="598932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191422"/>
          </a:solidFill>
          <a:ln w="12700">
            <a:solidFill>
              <a:srgbClr val="4A35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09760" y="604418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Premium Calm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10533888" y="5989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91422"/>
          </a:solidFill>
          <a:ln w="12700">
            <a:solidFill>
              <a:srgbClr val="4A35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07040" y="604418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Center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NORTH STAR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最终产品定义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4630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9264" y="1472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Relationship Intelligence Workbench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9019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不是更多功能，而是更完整的关系智能。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0352" y="26974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言策不应该把 AI、目标、记忆、模型、声音、素材做成一排互不相关的工具。用户真正需要的是：打开一个人，言策就能理解上下文、知道关系、记得过去、理解目标，并帮助完成这场真实对话。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2606040" cy="4407408"/>
          </a:xfrm>
          <a:prstGeom prst="roundRect">
            <a:avLst>
              <a:gd name="adj" fmla="val 4912"/>
            </a:avLst>
          </a:prstGeom>
          <a:solidFill>
            <a:srgbClr val="15111E"/>
          </a:solidFill>
          <a:ln w="12700">
            <a:solidFill>
              <a:srgbClr val="3A2C49"/>
            </a:solidFill>
            <a:prstDash val="solid"/>
          </a:ln>
          <a:effectLst>
            <a:outerShdw sx="100000" sy="100000" kx="0" ky="0" algn="bl" rotWithShape="0" blurRad="483870000" dist="645160000" dir="162000000000">
              <a:srgbClr val="000000">
                <a:alpha val="30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36208" y="1737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言策是什么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36208" y="2148840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 / 关系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是第一对象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36208" y="318211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对话是价值发生地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大部分时间隐形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深度工作区按需出现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5047488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1C1724"/>
          </a:solidFill>
          <a:ln w="12700">
            <a:solidFill>
              <a:srgbClr val="4A3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51023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Living Relationship OS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8851392" y="1417320"/>
            <a:ext cx="2724912" cy="4407408"/>
          </a:xfrm>
          <a:prstGeom prst="roundRect">
            <a:avLst>
              <a:gd name="adj" fmla="val 4698"/>
            </a:avLst>
          </a:prstGeom>
          <a:solidFill>
            <a:srgbClr val="111017"/>
          </a:solidFill>
          <a:ln w="12700">
            <a:solidFill>
              <a:srgbClr val="33273F"/>
            </a:solidFill>
            <a:prstDash val="solid"/>
          </a:ln>
          <a:effectLst>
            <a:outerShdw sx="100000" sy="100000" kx="0" ky="0" algn="bl" rotWithShape="0" blurRad="6145149000000" dist="8193532000000" dir="9720000000000000">
              <a:srgbClr val="000000">
                <a:alpha val="3000000000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1737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言策不是什么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16568" y="2286000"/>
            <a:ext cx="73152" cy="73152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2185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9D1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CRM / 销售漏斗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116568" y="2871216"/>
            <a:ext cx="73152" cy="73152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0304" y="2770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9D1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后台管理 Dashboard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9116568" y="3456432"/>
            <a:ext cx="73152" cy="73152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9D1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功能大卖场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9116568" y="4041648"/>
            <a:ext cx="73152" cy="73152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3941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9D1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模型参数控制台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116568" y="4626864"/>
            <a:ext cx="73152" cy="73152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4526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9D1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赛博 HUD / 关系打分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9098280" y="4882896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设计判断标准：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“这个界面是否让用户更自然地经营一段关系？”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权威架构：产品层只有一个，能力层各司其职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负责组合，不重建成熟 runtime。技术名字不应该成为普通用户的导航。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9080" y="1783080"/>
            <a:ext cx="4069080" cy="822960"/>
          </a:xfrm>
          <a:prstGeom prst="roundRect">
            <a:avLst>
              <a:gd name="adj" fmla="val 15556"/>
            </a:avLst>
          </a:prstGeom>
          <a:solidFill>
            <a:srgbClr val="2A1B39"/>
          </a:solidFill>
          <a:ln w="12700">
            <a:solidFill>
              <a:srgbClr val="8A56BC"/>
            </a:solidFill>
            <a:prstDash val="solid"/>
          </a:ln>
          <a:effectLst>
            <a:outerShdw sx="100000" sy="100000" kx="0" ky="0" algn="bl" rotWithShape="0" blurRad="78043392300000000" dist="104057856400000000" dir="583200000000000000000">
              <a:srgbClr val="000000">
                <a:alpha val="300000000000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15968" y="19659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Yance People / Relationship World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15968" y="223113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唯一产品级信息架构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08192" y="2615184"/>
            <a:ext cx="0" cy="429768"/>
          </a:xfrm>
          <a:prstGeom prst="line">
            <a:avLst/>
          </a:prstGeom>
          <a:noFill/>
          <a:ln w="22860">
            <a:solidFill>
              <a:srgbClr val="72509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3044952"/>
            <a:ext cx="4800600" cy="914400"/>
          </a:xfrm>
          <a:prstGeom prst="roundRect">
            <a:avLst>
              <a:gd name="adj" fmla="val 14000"/>
            </a:avLst>
          </a:prstGeom>
          <a:solidFill>
            <a:srgbClr val="17131F"/>
          </a:solidFill>
          <a:ln w="12700">
            <a:solidFill>
              <a:srgbClr val="4D3A61"/>
            </a:solidFill>
            <a:prstDash val="solid"/>
          </a:ln>
          <a:effectLst>
            <a:outerShdw sx="100000" sy="100000" kx="0" ky="0" algn="bl" rotWithShape="0" blurRad="991151082210000000000" dist="1.32153477628e+21" dir="3.4992e+25">
              <a:srgbClr val="000000">
                <a:alpha val="3e+2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69080" y="32461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Workspace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69080" y="3547872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Timeline + Reply Brain + Composer + Inspector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4343400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4517136"/>
            <a:ext cx="64008" cy="64008"/>
          </a:xfrm>
          <a:prstGeom prst="ellipse">
            <a:avLst/>
          </a:prstGeom>
          <a:solidFill>
            <a:srgbClr val="76A9FA"/>
          </a:solidFill>
          <a:ln w="12700">
            <a:solidFill>
              <a:srgbClr val="76A9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4434840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Matrix / Element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377440" y="44348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 / timeline / composer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462272" y="4343400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4517136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434840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Letta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181344" y="44348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长期记忆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266176" y="4343400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94192" y="4517136"/>
            <a:ext cx="64008" cy="64008"/>
          </a:xfrm>
          <a:prstGeom prst="ellipse">
            <a:avLst/>
          </a:prstGeom>
          <a:solidFill>
            <a:srgbClr val="6FD5E8"/>
          </a:solidFill>
          <a:ln w="12700">
            <a:solidFill>
              <a:srgbClr val="6FD5E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4434840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Graphiti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9985248" y="44348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关系事实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58368" y="4946904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120640"/>
            <a:ext cx="64008" cy="64008"/>
          </a:xfrm>
          <a:prstGeom prst="ellipse">
            <a:avLst/>
          </a:prstGeom>
          <a:solidFill>
            <a:srgbClr val="F0B16A"/>
          </a:solidFill>
          <a:ln w="12700">
            <a:solidFill>
              <a:srgbClr val="F0B16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503834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Parlant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2377440" y="503834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Goal / Journey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4462272" y="4946904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0288" y="5120640"/>
            <a:ext cx="64008" cy="6400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503834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Brain / LiteLLM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181344" y="503834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模型执行与路由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266176" y="4946904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4192" y="5120640"/>
            <a:ext cx="64008" cy="6400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13064" y="503834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Brain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9985248" y="503834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/ 优化 / rollout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658368" y="5550408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" y="5724144"/>
            <a:ext cx="64008" cy="64008"/>
          </a:xfrm>
          <a:prstGeom prst="ellipse">
            <a:avLst/>
          </a:prstGeom>
          <a:solidFill>
            <a:srgbClr val="76A9FA"/>
          </a:solidFill>
          <a:ln w="12700">
            <a:solidFill>
              <a:srgbClr val="76A9F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5641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Immich + ComfyUI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2377440" y="56418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媒体 / 图像工作流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4462272" y="5550408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5724144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5641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SenseVoice + CosyVoice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181344" y="56418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ASR / Voice Brain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8266176" y="5550408"/>
            <a:ext cx="3401568" cy="457200"/>
          </a:xfrm>
          <a:prstGeom prst="roundRect">
            <a:avLst>
              <a:gd name="adj" fmla="val 28000"/>
            </a:avLst>
          </a:prstGeom>
          <a:solidFill>
            <a:srgbClr val="121018"/>
          </a:solidFill>
          <a:ln w="12700">
            <a:solidFill>
              <a:srgbClr val="2E24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94192" y="5724144"/>
            <a:ext cx="64008" cy="64008"/>
          </a:xfrm>
          <a:prstGeom prst="ellipse">
            <a:avLst/>
          </a:prstGeom>
          <a:solidFill>
            <a:srgbClr val="F0B16A"/>
          </a:solidFill>
          <a:ln w="12700">
            <a:solidFill>
              <a:srgbClr val="F0B16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13064" y="5641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LiveKit + CyberVerse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9985248" y="56418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Presence / Avatar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658368" y="627278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原则：投影向上，意图向下；不建立第二套消息、关系图、目标、模型、媒体、语音、实时或学习权威。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INVENTORY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已开发能力全景：不是删功能，而是重新编排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最终设计必须把现有成熟能力全部留下，并明确“它在一场对话里什么时候出现”。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84248"/>
            <a:ext cx="82296" cy="82296"/>
          </a:xfrm>
          <a:prstGeom prst="ellipse">
            <a:avLst/>
          </a:prstGeom>
          <a:solidFill>
            <a:srgbClr val="6FD5E8"/>
          </a:solidFill>
          <a:ln w="12700">
            <a:solidFill>
              <a:srgbClr val="6FD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37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关系理解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65376" y="18379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People / Relationship World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877824" y="204825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人物、关系状态、近期互动、关系世界、共享时刻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4370832" y="2048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Graphiti · Product Shell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6163056" y="1737360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984248"/>
            <a:ext cx="82296" cy="82296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837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61504" y="18379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/ useful memory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473952" y="204825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与当前消息相关的可信记忆、来源、是否参与回复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9966960" y="2048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Letta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566928" y="2542032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788920"/>
            <a:ext cx="82296" cy="82296"/>
          </a:xfrm>
          <a:prstGeom prst="ellipse">
            <a:avLst/>
          </a:prstGeom>
          <a:solidFill>
            <a:srgbClr val="F0B16A"/>
          </a:solidFill>
          <a:ln w="12700">
            <a:solidFill>
              <a:srgbClr val="F0B16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6426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目标与旅程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65376" y="26426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Private Quest / Journey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877824" y="2852928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当前私密意图、下一步、回复策略上下文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370832" y="28529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Parlant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6163056" y="2542032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788920"/>
            <a:ext cx="82296" cy="8229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6426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回复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61504" y="26426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473952" y="2852928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理解→判断→候选→解释；用户决定是否发送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9966960" y="28529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RelationshipAssistant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66928" y="3346704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593592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65376" y="34472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Brain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877824" y="3657600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自动/指定模型、推理强度、快速、主/备用 fallback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4370832" y="3657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LiteLLM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163056" y="3346704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593592"/>
            <a:ext cx="82296" cy="82296"/>
          </a:xfrm>
          <a:prstGeom prst="ellipse">
            <a:avLst/>
          </a:prstGeom>
          <a:solidFill>
            <a:srgbClr val="76A9FA"/>
          </a:solidFill>
          <a:ln w="12700">
            <a:solidFill>
              <a:srgbClr val="76A9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61504" y="34472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 / Translation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473952" y="3657600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查看中文、双语预览、跨人物搜索、翻译任务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9966960" y="3657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BilingualSearchPanel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566928" y="4151376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65376" y="4251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Voice Brain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877824" y="446227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建议→用我的声音说→生成→试听→发送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370832" y="4462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SenseVoice · CosyVoice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6163056" y="4151376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4398264"/>
            <a:ext cx="82296" cy="82296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61504" y="4251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 Brain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6473952" y="446227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 / 素材生成与选择→预览→发送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9966960" y="4462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Immich · ComfyUI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566928" y="4956048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" y="5202936"/>
            <a:ext cx="82296" cy="82296"/>
          </a:xfrm>
          <a:prstGeom prst="ellipse">
            <a:avLst/>
          </a:prstGeom>
          <a:solidFill>
            <a:srgbClr val="F0B16A"/>
          </a:solidFill>
          <a:ln w="12700">
            <a:solidFill>
              <a:srgbClr val="F0B16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7824" y="5056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Presence / Live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865376" y="50566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Realtime</a:t>
            </a:r>
            <a:endParaRPr lang="en-US" sz="810" dirty="0"/>
          </a:p>
        </p:txBody>
      </p:sp>
      <p:sp>
        <p:nvSpPr>
          <p:cNvPr id="57" name="Text 55"/>
          <p:cNvSpPr/>
          <p:nvPr/>
        </p:nvSpPr>
        <p:spPr>
          <a:xfrm>
            <a:off x="877824" y="5266944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 / presence / avatar / live action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4370832" y="5266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LiveKit · CyberVerse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6163056" y="4956048"/>
            <a:ext cx="5285232" cy="621792"/>
          </a:xfrm>
          <a:prstGeom prst="roundRect">
            <a:avLst>
              <a:gd name="adj" fmla="val 20588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5202936"/>
            <a:ext cx="82296" cy="82296"/>
          </a:xfrm>
          <a:prstGeom prst="ellipse">
            <a:avLst/>
          </a:prstGeom>
          <a:solidFill>
            <a:srgbClr val="6FD5E8"/>
          </a:solidFill>
          <a:ln w="12700">
            <a:solidFill>
              <a:srgbClr val="6FD5E8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5056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461504" y="50566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Brain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6473952" y="5266944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用户选择、修改、真实回复、关系 outcome 回流学习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9966960" y="5266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9107424" y="599846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B2B25"/>
          </a:solidFill>
          <a:ln w="12700">
            <a:solidFill>
              <a:srgbClr val="2F715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0576" y="605332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全部保留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10168128" y="59984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A1B39"/>
          </a:solidFill>
          <a:ln w="12700">
            <a:solidFill>
              <a:srgbClr val="71509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41280" y="605332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全部服务对话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DESKTOP SHELL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全局桌面 Shell：允许多栏，不允许多套产品导航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Pane 可以变化；Global Rail 只有一套。主工作区永远拥有最高空间优先级。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1682496"/>
            <a:ext cx="713232" cy="4389120"/>
          </a:xfrm>
          <a:prstGeom prst="roundRect">
            <a:avLst>
              <a:gd name="adj" fmla="val 17949"/>
            </a:avLst>
          </a:prstGeom>
          <a:solidFill>
            <a:srgbClr val="121019"/>
          </a:solidFill>
          <a:ln w="12700">
            <a:solidFill>
              <a:srgbClr val="251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9C5EF5"/>
          </a:solidFill>
          <a:ln w="12700">
            <a:solidFill>
              <a:srgbClr val="B98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385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" y="2642616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8620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77824" y="3401568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62102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76656" y="4087368"/>
            <a:ext cx="566928" cy="530352"/>
          </a:xfrm>
          <a:prstGeom prst="roundRect">
            <a:avLst>
              <a:gd name="adj" fmla="val 24138"/>
            </a:avLst>
          </a:prstGeom>
          <a:solidFill>
            <a:srgbClr val="332047"/>
          </a:solidFill>
          <a:ln w="12700">
            <a:solidFill>
              <a:srgbClr val="9C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4160520"/>
            <a:ext cx="155448" cy="155448"/>
          </a:xfrm>
          <a:prstGeom prst="ellipse">
            <a:avLst/>
          </a:prstGeom>
          <a:solidFill>
            <a:srgbClr val="D8C5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37997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77824" y="4919472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513892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77824" y="5678424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589788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444752" y="1682496"/>
            <a:ext cx="2331720" cy="4389120"/>
          </a:xfrm>
          <a:prstGeom prst="roundRect">
            <a:avLst>
              <a:gd name="adj" fmla="val 5490"/>
            </a:avLst>
          </a:prstGeom>
          <a:solidFill>
            <a:srgbClr val="0F0D15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182880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81912" y="2157984"/>
            <a:ext cx="2057400" cy="347472"/>
          </a:xfrm>
          <a:prstGeom prst="roundRect">
            <a:avLst>
              <a:gd name="adj" fmla="val 36842"/>
            </a:avLst>
          </a:prstGeom>
          <a:solidFill>
            <a:srgbClr val="16111F"/>
          </a:solidFill>
          <a:ln w="12700">
            <a:solidFill>
              <a:srgbClr val="3424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0784" y="2240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⌕  搜索联系人或消息…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609344" y="2688336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670048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Yeonhee Kim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956816" y="2862072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1609344" y="3246120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56816" y="32278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Peter Jotterand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956816" y="3419856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Telegram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1527048" y="3739896"/>
            <a:ext cx="2167128" cy="475488"/>
          </a:xfrm>
          <a:prstGeom prst="roundRect">
            <a:avLst>
              <a:gd name="adj" fmla="val 21154"/>
            </a:avLst>
          </a:prstGeom>
          <a:solidFill>
            <a:srgbClr val="302039"/>
          </a:solidFill>
          <a:ln w="12700">
            <a:solidFill>
              <a:srgbClr val="9C5E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9344" y="3803904"/>
            <a:ext cx="274320" cy="274320"/>
          </a:xfrm>
          <a:prstGeom prst="ellipse">
            <a:avLst/>
          </a:prstGeom>
          <a:solidFill>
            <a:srgbClr val="917A63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6816" y="3785616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Develyn Lania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956816" y="3977640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1609344" y="4361688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6816" y="434340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Corpus Aweng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956816" y="4535424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1609344" y="4919472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6816" y="490118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ClaudineJane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956816" y="509320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9" name="Shape 37"/>
          <p:cNvSpPr/>
          <p:nvPr/>
        </p:nvSpPr>
        <p:spPr>
          <a:xfrm>
            <a:off x="1609344" y="5477256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6816" y="5458968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Jhe Rick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956816" y="5650992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3968496" y="1682496"/>
            <a:ext cx="5001768" cy="4389120"/>
          </a:xfrm>
          <a:prstGeom prst="roundRect">
            <a:avLst>
              <a:gd name="adj" fmla="val 2917"/>
            </a:avLst>
          </a:prstGeom>
          <a:solidFill>
            <a:srgbClr val="0E0C12"/>
          </a:solidFill>
          <a:ln w="12700">
            <a:solidFill>
              <a:srgbClr val="3B2C4A"/>
            </a:solidFill>
            <a:prstDash val="solid"/>
          </a:ln>
          <a:effectLst>
            <a:outerShdw sx="100000" sy="100000" kx="0" ky="0" algn="bl" rotWithShape="0" blurRad="1.2587618744067e+25" dist="1.6783491658756e+25" dir="2.09952e+30">
              <a:srgbClr val="000000">
                <a:alpha val="3e+29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5196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WORKSPACE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51960" y="22860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当前真正正在做的事情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251960" y="27249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 / 关系画像 / 关系宇宙 / AI 深度任务 / 设置详情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51960" y="3364992"/>
            <a:ext cx="4370832" cy="1645920"/>
          </a:xfrm>
          <a:prstGeom prst="roundRect">
            <a:avLst>
              <a:gd name="adj" fmla="val 7778"/>
            </a:avLst>
          </a:prstGeom>
          <a:solidFill>
            <a:srgbClr val="15111D"/>
          </a:solidFill>
          <a:ln w="12700">
            <a:solidFill>
              <a:srgbClr val="4633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7136" y="3593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主工作区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17136" y="3959352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窗口变窄时：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先收起 Inspector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再压缩 Context Pane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不先压缩这里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9162288" y="1682496"/>
            <a:ext cx="2359152" cy="4389120"/>
          </a:xfrm>
          <a:prstGeom prst="roundRect">
            <a:avLst>
              <a:gd name="adj" fmla="val 5426"/>
            </a:avLst>
          </a:prstGeom>
          <a:solidFill>
            <a:srgbClr val="13101B"/>
          </a:solidFill>
          <a:ln w="12700">
            <a:solidFill>
              <a:srgbClr val="2D21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179222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A2550"/>
          </a:solidFill>
          <a:ln w="12700">
            <a:solidFill>
              <a:srgbClr val="8F5BB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45168" y="18470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9802368" y="179222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0" y="18470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10332720" y="179222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05872" y="18470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10863072" y="179222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36224" y="18470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9290304" y="2276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回复大脑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290304" y="2542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根据关系上下文动态选择策略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290304" y="3035808"/>
            <a:ext cx="2103120" cy="841248"/>
          </a:xfrm>
          <a:prstGeom prst="roundRect">
            <a:avLst>
              <a:gd name="adj" fmla="val 15217"/>
            </a:avLst>
          </a:prstGeom>
          <a:solidFill>
            <a:srgbClr val="1B1426"/>
          </a:solidFill>
          <a:ln w="12700">
            <a:solidFill>
              <a:srgbClr val="3C2B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00032" y="31546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人物设定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400032" y="339242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使用当前生效人物设定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290304" y="3986784"/>
            <a:ext cx="2103120" cy="1133856"/>
          </a:xfrm>
          <a:prstGeom prst="roundRect">
            <a:avLst>
              <a:gd name="adj" fmla="val 11290"/>
            </a:avLst>
          </a:prstGeom>
          <a:solidFill>
            <a:srgbClr val="1B1426"/>
          </a:solidFill>
          <a:ln w="12700">
            <a:solidFill>
              <a:srgbClr val="3C2B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00032" y="41148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回复策略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400032" y="43434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Brain 自动选择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400032" y="45811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推理强度 中 · 标准路由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9290304" y="5239512"/>
            <a:ext cx="2103120" cy="804672"/>
          </a:xfrm>
          <a:prstGeom prst="roundRect">
            <a:avLst>
              <a:gd name="adj" fmla="val 15909"/>
            </a:avLst>
          </a:prstGeom>
          <a:solidFill>
            <a:srgbClr val="17111F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00032" y="5358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为什么这样回复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9400032" y="55961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等待下一次真实消息形成策略</a:t>
            </a:r>
            <a:endParaRPr lang="en-US" sz="810" dirty="0"/>
          </a:p>
        </p:txBody>
      </p:sp>
      <p:sp>
        <p:nvSpPr>
          <p:cNvPr id="70" name="Shape 68"/>
          <p:cNvSpPr/>
          <p:nvPr/>
        </p:nvSpPr>
        <p:spPr>
          <a:xfrm>
            <a:off x="676656" y="57424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A1520"/>
          </a:solidFill>
          <a:ln w="12700">
            <a:solidFill>
              <a:srgbClr val="4B365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" y="5797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Global Rail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1965960" y="57424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A1520"/>
          </a:solidFill>
          <a:ln w="12700">
            <a:solidFill>
              <a:srgbClr val="4B365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39112" y="5797296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Pane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5797296" y="5742432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1A1520"/>
          </a:solidFill>
          <a:ln w="12700">
            <a:solidFill>
              <a:srgbClr val="4B365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70448" y="57972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Workspace</a:t>
            </a:r>
            <a:endParaRPr lang="en-US" sz="860" dirty="0"/>
          </a:p>
        </p:txBody>
      </p:sp>
      <p:sp>
        <p:nvSpPr>
          <p:cNvPr id="76" name="Shape 74"/>
          <p:cNvSpPr/>
          <p:nvPr/>
        </p:nvSpPr>
        <p:spPr>
          <a:xfrm>
            <a:off x="9893808" y="57424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A1520"/>
          </a:solidFill>
          <a:ln w="12700">
            <a:solidFill>
              <a:srgbClr val="4B365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66960" y="5797296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Inspector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ORCHESTRATION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核心能力地图：一场对话，调动整个言策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用户不需要手工拼装“关系 + 记忆 + 目标 + 模型 + 语音 + 素材”。这些能力按对话阶段自然浮现。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14101B"/>
          </a:solidFill>
          <a:ln w="12700">
            <a:solidFill>
              <a:srgbClr val="3025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636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F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对话前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804672" y="23865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 / 关系 / 目标 / 近期记忆 / Presence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624328" y="2377440"/>
            <a:ext cx="292608" cy="0"/>
          </a:xfrm>
          <a:prstGeom prst="line">
            <a:avLst/>
          </a:prstGeom>
          <a:noFill/>
          <a:ln w="22860">
            <a:solidFill>
              <a:srgbClr val="5D426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35224" y="192024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14101B"/>
          </a:solidFill>
          <a:ln w="12700">
            <a:solidFill>
              <a:srgbClr val="3025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2103120"/>
            <a:ext cx="1636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6A9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理解中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081528" y="23865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 / 消息理解 / 关系事实 / 记忆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901184" y="2377440"/>
            <a:ext cx="292608" cy="0"/>
          </a:xfrm>
          <a:prstGeom prst="line">
            <a:avLst/>
          </a:prstGeom>
          <a:noFill/>
          <a:ln w="22860">
            <a:solidFill>
              <a:srgbClr val="5D426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192024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14101B"/>
          </a:solidFill>
          <a:ln w="12700">
            <a:solidFill>
              <a:srgbClr val="302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103120"/>
            <a:ext cx="1636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决策中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5358384" y="23865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 / Relationship Assistant / Model Brain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178040" y="2377440"/>
            <a:ext cx="292608" cy="0"/>
          </a:xfrm>
          <a:prstGeom prst="line">
            <a:avLst/>
          </a:prstGeom>
          <a:noFill/>
          <a:ln w="22860">
            <a:solidFill>
              <a:srgbClr val="5D426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88936" y="192024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14101B"/>
          </a:solidFill>
          <a:ln w="12700">
            <a:solidFill>
              <a:srgbClr val="3025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103120"/>
            <a:ext cx="1636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0B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发送时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635240" y="23865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Element Composer / 文本 / Voice / Media / Live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454896" y="2377440"/>
            <a:ext cx="292608" cy="0"/>
          </a:xfrm>
          <a:prstGeom prst="line">
            <a:avLst/>
          </a:prstGeom>
          <a:noFill/>
          <a:ln w="22860">
            <a:solidFill>
              <a:srgbClr val="5D426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65792" y="192024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14101B"/>
          </a:solidFill>
          <a:ln w="12700">
            <a:solidFill>
              <a:srgbClr val="3025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0384" y="2103120"/>
            <a:ext cx="16367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对话后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912096" y="23865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事实提取 / 记忆提取 / 关系变化 / Learning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300984" y="3273552"/>
            <a:ext cx="5596128" cy="1335024"/>
          </a:xfrm>
          <a:prstGeom prst="roundRect">
            <a:avLst>
              <a:gd name="adj" fmla="val 9589"/>
            </a:avLst>
          </a:prstGeom>
          <a:solidFill>
            <a:srgbClr val="25162F"/>
          </a:solidFill>
          <a:ln w="12700">
            <a:solidFill>
              <a:srgbClr val="9A5FD0"/>
            </a:solidFill>
            <a:prstDash val="solid"/>
          </a:ln>
          <a:effectLst>
            <a:outerShdw sx="100000" sy="100000" kx="0" ky="0" algn="bl" rotWithShape="0" blurRad="1.598627580496509e+29" dist="2.1315034406620118e+29" dir="1.259712e+35">
              <a:srgbClr val="000000">
                <a:alpha val="2.9999999999999997e+3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3493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CENTER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94176" y="37673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94176" y="41696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timeline · 上下文编排 · Reply Brain · Composer · 用户决定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58368" y="5010912"/>
            <a:ext cx="5074920" cy="713232"/>
          </a:xfrm>
          <a:prstGeom prst="roundRect">
            <a:avLst>
              <a:gd name="adj" fmla="val 17949"/>
            </a:avLst>
          </a:prstGeom>
          <a:solidFill>
            <a:srgbClr val="111017"/>
          </a:solidFill>
          <a:ln w="12700">
            <a:solidFill>
              <a:srgbClr val="2C22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2120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前台：只显示用户此刻需要的能力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943600" y="5010912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111017"/>
          </a:solidFill>
          <a:ln w="12700">
            <a:solidFill>
              <a:srgbClr val="2C22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521208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后台：Model / Memory / Learning 等持续协同，但不抢夺注意力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EXPERIENCE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 Conversation Workspace：主战场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日常使用应该尽量“不离开这个页面”。人物、AI、关系、记忆、目标、模型与多模态发送都围绕它展开。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713232" cy="4526280"/>
          </a:xfrm>
          <a:prstGeom prst="roundRect">
            <a:avLst>
              <a:gd name="adj" fmla="val 17949"/>
            </a:avLst>
          </a:prstGeom>
          <a:solidFill>
            <a:srgbClr val="121019"/>
          </a:solidFill>
          <a:ln w="12700">
            <a:solidFill>
              <a:srgbClr val="251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1051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9C5EF5"/>
          </a:solidFill>
          <a:ln w="12700">
            <a:solidFill>
              <a:srgbClr val="B98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9202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24328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4378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027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4069080"/>
            <a:ext cx="566928" cy="530352"/>
          </a:xfrm>
          <a:prstGeom prst="roundRect">
            <a:avLst>
              <a:gd name="adj" fmla="val 24138"/>
            </a:avLst>
          </a:prstGeom>
          <a:solidFill>
            <a:srgbClr val="332047"/>
          </a:solidFill>
          <a:ln w="12700">
            <a:solidFill>
              <a:srgbClr val="9C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42232"/>
            <a:ext cx="155448" cy="155448"/>
          </a:xfrm>
          <a:prstGeom prst="ellipse">
            <a:avLst/>
          </a:prstGeom>
          <a:solidFill>
            <a:srgbClr val="D8C5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6168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4901184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12064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5660136"/>
            <a:ext cx="155448" cy="155448"/>
          </a:xfrm>
          <a:prstGeom prst="ellipse">
            <a:avLst/>
          </a:prstGeom>
          <a:solidFill>
            <a:srgbClr val="5F56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87959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98448" y="1664208"/>
            <a:ext cx="2194560" cy="4526280"/>
          </a:xfrm>
          <a:prstGeom prst="roundRect">
            <a:avLst>
              <a:gd name="adj" fmla="val 5833"/>
            </a:avLst>
          </a:prstGeom>
          <a:solidFill>
            <a:srgbClr val="0F0D15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18105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35608" y="2139696"/>
            <a:ext cx="1920240" cy="347472"/>
          </a:xfrm>
          <a:prstGeom prst="roundRect">
            <a:avLst>
              <a:gd name="adj" fmla="val 36842"/>
            </a:avLst>
          </a:prstGeom>
          <a:solidFill>
            <a:srgbClr val="16111F"/>
          </a:solidFill>
          <a:ln w="12700">
            <a:solidFill>
              <a:srgbClr val="3424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221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⌕  搜索联系人或消息…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463040" y="2670048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65176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Yeonhee Kim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10512" y="28437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1463040" y="3227832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0512" y="32095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Peter Jotterand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810512" y="340156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Telegram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1380744" y="3721608"/>
            <a:ext cx="2029968" cy="475488"/>
          </a:xfrm>
          <a:prstGeom prst="roundRect">
            <a:avLst>
              <a:gd name="adj" fmla="val 21154"/>
            </a:avLst>
          </a:prstGeom>
          <a:solidFill>
            <a:srgbClr val="302039"/>
          </a:solidFill>
          <a:ln w="12700">
            <a:solidFill>
              <a:srgbClr val="9C5E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785616"/>
            <a:ext cx="274320" cy="274320"/>
          </a:xfrm>
          <a:prstGeom prst="ellipse">
            <a:avLst/>
          </a:prstGeom>
          <a:solidFill>
            <a:srgbClr val="917A63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767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Develyn Lania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810512" y="3959352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1463040" y="4343400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0512" y="43251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Corpus Aweng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810512" y="4517136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1463040" y="4901184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0512" y="48828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ClaudineJane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810512" y="5074920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39" name="Shape 37"/>
          <p:cNvSpPr/>
          <p:nvPr/>
        </p:nvSpPr>
        <p:spPr>
          <a:xfrm>
            <a:off x="1463040" y="5458968"/>
            <a:ext cx="274320" cy="274320"/>
          </a:xfrm>
          <a:prstGeom prst="ellipse">
            <a:avLst/>
          </a:prstGeom>
          <a:solidFill>
            <a:srgbClr val="5B5165"/>
          </a:solidFill>
          <a:ln w="12700">
            <a:solidFill>
              <a:srgbClr val="C8B0E7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54406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0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Jhe Rick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810512" y="563270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Messenger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3675888" y="1664208"/>
            <a:ext cx="5504688" cy="4526280"/>
          </a:xfrm>
          <a:prstGeom prst="roundRect">
            <a:avLst>
              <a:gd name="adj" fmla="val 2828"/>
            </a:avLst>
          </a:prstGeom>
          <a:solidFill>
            <a:srgbClr val="09080D"/>
          </a:solidFill>
          <a:ln w="12700">
            <a:solidFill>
              <a:srgbClr val="3A2A4A"/>
            </a:solidFill>
            <a:prstDash val="solid"/>
          </a:ln>
          <a:effectLst>
            <a:outerShdw sx="100000" sy="100000" kx="0" ky="0" algn="bl" rotWithShape="0" blurRad="2.0302570272305663e+33" dist="2.707009369640755e+33" dir="7.558272e+39">
              <a:srgbClr val="000000">
                <a:alpha val="3e+39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03904" y="1792224"/>
            <a:ext cx="5248656" cy="594360"/>
          </a:xfrm>
          <a:prstGeom prst="roundRect">
            <a:avLst>
              <a:gd name="adj" fmla="val 21538"/>
            </a:avLst>
          </a:prstGeom>
          <a:solidFill>
            <a:srgbClr val="13101B"/>
          </a:solidFill>
          <a:ln w="12700">
            <a:solidFill>
              <a:srgbClr val="31213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68496" y="1920240"/>
            <a:ext cx="310896" cy="310896"/>
          </a:xfrm>
          <a:prstGeom prst="ellipse">
            <a:avLst/>
          </a:prstGeom>
          <a:solidFill>
            <a:srgbClr val="94765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0" y="1883664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Develyn Lania Amangan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4389120" y="2093976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facebook · 由我回复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644384" y="191109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2376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17536" y="196596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关系世界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8503920" y="191109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427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7072" y="196596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⋯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4727448" y="2688336"/>
            <a:ext cx="3438144" cy="393192"/>
          </a:xfrm>
          <a:prstGeom prst="roundRect">
            <a:avLst>
              <a:gd name="adj" fmla="val 32558"/>
            </a:avLst>
          </a:prstGeom>
          <a:solidFill>
            <a:srgbClr val="252932"/>
          </a:solidFill>
          <a:ln w="12700">
            <a:solidFill>
              <a:srgbClr val="363B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2779776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9E4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Nähe gibt Geborgenheit. Kann nie nah genug sein.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4846320" y="3236976"/>
            <a:ext cx="3035808" cy="393192"/>
          </a:xfrm>
          <a:prstGeom prst="roundRect">
            <a:avLst>
              <a:gd name="adj" fmla="val 32558"/>
            </a:avLst>
          </a:prstGeom>
          <a:solidFill>
            <a:srgbClr val="252932"/>
          </a:solidFill>
          <a:ln w="12700">
            <a:solidFill>
              <a:srgbClr val="363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2624" y="332841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9E4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ich muss mich da erst noch ein bisschen zurechtfinden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4462272" y="4425696"/>
            <a:ext cx="4453128" cy="1444752"/>
          </a:xfrm>
          <a:prstGeom prst="roundRect">
            <a:avLst>
              <a:gd name="adj" fmla="val 8861"/>
            </a:avLst>
          </a:prstGeom>
          <a:solidFill>
            <a:srgbClr val="15101E"/>
          </a:solidFill>
          <a:ln w="12700">
            <a:solidFill>
              <a:srgbClr val="4A2B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6864" y="4562856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57316F"/>
          </a:solidFill>
          <a:ln w="12700">
            <a:solidFill>
              <a:srgbClr val="AA6C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0016" y="46177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由我回复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4626864" y="4937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DA7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4626864" y="5157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建议回复</a:t>
            </a:r>
            <a:endParaRPr lang="en-US" sz="1180" dirty="0"/>
          </a:p>
        </p:txBody>
      </p:sp>
      <p:sp>
        <p:nvSpPr>
          <p:cNvPr id="60" name="Shape 58"/>
          <p:cNvSpPr/>
          <p:nvPr/>
        </p:nvSpPr>
        <p:spPr>
          <a:xfrm>
            <a:off x="5824728" y="4818888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21162A"/>
          </a:solidFill>
          <a:ln w="12700">
            <a:solidFill>
              <a:srgbClr val="5C3E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34456" y="49743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轻松接住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5934456" y="52029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自然、有温度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214616" y="4818888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1C1B29"/>
          </a:solidFill>
          <a:ln w="12700">
            <a:solidFill>
              <a:srgbClr val="50709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24344" y="49743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好奇引导</a:t>
            </a:r>
            <a:endParaRPr lang="en-US" sz="810" dirty="0"/>
          </a:p>
        </p:txBody>
      </p:sp>
      <p:sp>
        <p:nvSpPr>
          <p:cNvPr id="65" name="Text 63"/>
          <p:cNvSpPr/>
          <p:nvPr/>
        </p:nvSpPr>
        <p:spPr>
          <a:xfrm>
            <a:off x="7324344" y="52029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延续话题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604504" y="4818888"/>
            <a:ext cx="1261872" cy="749808"/>
          </a:xfrm>
          <a:prstGeom prst="roundRect">
            <a:avLst>
              <a:gd name="adj" fmla="val 17073"/>
            </a:avLst>
          </a:prstGeom>
          <a:solidFill>
            <a:srgbClr val="21162A"/>
          </a:solidFill>
          <a:ln w="12700">
            <a:solidFill>
              <a:srgbClr val="5C3E7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14232" y="49743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制造期待</a:t>
            </a:r>
            <a:endParaRPr lang="en-US" sz="810" dirty="0"/>
          </a:p>
        </p:txBody>
      </p:sp>
      <p:sp>
        <p:nvSpPr>
          <p:cNvPr id="68" name="Text 66"/>
          <p:cNvSpPr/>
          <p:nvPr/>
        </p:nvSpPr>
        <p:spPr>
          <a:xfrm>
            <a:off x="8714232" y="520293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更有感觉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443984" y="5614416"/>
            <a:ext cx="4480560" cy="384048"/>
          </a:xfrm>
          <a:prstGeom prst="roundRect">
            <a:avLst>
              <a:gd name="adj" fmla="val 33333"/>
            </a:avLst>
          </a:prstGeom>
          <a:solidFill>
            <a:srgbClr val="111019"/>
          </a:solidFill>
          <a:ln w="12700">
            <a:solidFill>
              <a:srgbClr val="3B2D4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36008" y="57150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发送消息…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031736" y="5678424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04888" y="573328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自动模型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7845552" y="567842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18704" y="57332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8302752" y="567842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B1326"/>
          </a:solidFill>
          <a:ln w="12700">
            <a:solidFill>
              <a:srgbClr val="51376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75904" y="57332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9354312" y="1664208"/>
            <a:ext cx="2322576" cy="4526280"/>
          </a:xfrm>
          <a:prstGeom prst="roundRect">
            <a:avLst>
              <a:gd name="adj" fmla="val 5512"/>
            </a:avLst>
          </a:prstGeom>
          <a:solidFill>
            <a:srgbClr val="13101B"/>
          </a:solidFill>
          <a:ln w="12700">
            <a:solidFill>
              <a:srgbClr val="2D21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464040" y="17739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A2550"/>
          </a:solidFill>
          <a:ln w="12700">
            <a:solidFill>
              <a:srgbClr val="8F5BB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37192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9994392" y="17739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67544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</a:t>
            </a:r>
            <a:endParaRPr lang="en-US" sz="860" dirty="0"/>
          </a:p>
        </p:txBody>
      </p:sp>
      <p:sp>
        <p:nvSpPr>
          <p:cNvPr id="82" name="Shape 80"/>
          <p:cNvSpPr/>
          <p:nvPr/>
        </p:nvSpPr>
        <p:spPr>
          <a:xfrm>
            <a:off x="10524744" y="17739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97896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</a:t>
            </a:r>
            <a:endParaRPr lang="en-US" sz="860" dirty="0"/>
          </a:p>
        </p:txBody>
      </p:sp>
      <p:sp>
        <p:nvSpPr>
          <p:cNvPr id="84" name="Shape 82"/>
          <p:cNvSpPr/>
          <p:nvPr/>
        </p:nvSpPr>
        <p:spPr>
          <a:xfrm>
            <a:off x="11055096" y="17739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91322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128248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860" dirty="0"/>
          </a:p>
        </p:txBody>
      </p:sp>
      <p:sp>
        <p:nvSpPr>
          <p:cNvPr id="86" name="Text 84"/>
          <p:cNvSpPr/>
          <p:nvPr/>
        </p:nvSpPr>
        <p:spPr>
          <a:xfrm>
            <a:off x="9482328" y="225856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回复大脑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9482328" y="2523744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根据关系上下文动态选择策略</a:t>
            </a:r>
            <a:endParaRPr lang="en-US" sz="860" dirty="0"/>
          </a:p>
        </p:txBody>
      </p:sp>
      <p:sp>
        <p:nvSpPr>
          <p:cNvPr id="88" name="Shape 86"/>
          <p:cNvSpPr/>
          <p:nvPr/>
        </p:nvSpPr>
        <p:spPr>
          <a:xfrm>
            <a:off x="9482328" y="3017520"/>
            <a:ext cx="2066544" cy="841248"/>
          </a:xfrm>
          <a:prstGeom prst="roundRect">
            <a:avLst>
              <a:gd name="adj" fmla="val 15217"/>
            </a:avLst>
          </a:prstGeom>
          <a:solidFill>
            <a:srgbClr val="1B1426"/>
          </a:solidFill>
          <a:ln w="12700">
            <a:solidFill>
              <a:srgbClr val="3C2B4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592056" y="313639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人物设定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592056" y="337413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使用当前生效人物设定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9482328" y="3968496"/>
            <a:ext cx="2066544" cy="1133856"/>
          </a:xfrm>
          <a:prstGeom prst="roundRect">
            <a:avLst>
              <a:gd name="adj" fmla="val 11290"/>
            </a:avLst>
          </a:prstGeom>
          <a:solidFill>
            <a:srgbClr val="1B1426"/>
          </a:solidFill>
          <a:ln w="12700">
            <a:solidFill>
              <a:srgbClr val="3C2B4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592056" y="40965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回复策略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592056" y="432511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Brain 自动选择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592056" y="45628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推理强度 中 · 标准路由</a:t>
            </a:r>
            <a:endParaRPr lang="en-US" sz="760" dirty="0"/>
          </a:p>
        </p:txBody>
      </p:sp>
      <p:sp>
        <p:nvSpPr>
          <p:cNvPr id="95" name="Shape 93"/>
          <p:cNvSpPr/>
          <p:nvPr/>
        </p:nvSpPr>
        <p:spPr>
          <a:xfrm>
            <a:off x="9482328" y="5221224"/>
            <a:ext cx="2066544" cy="804672"/>
          </a:xfrm>
          <a:prstGeom prst="roundRect">
            <a:avLst>
              <a:gd name="adj" fmla="val 15909"/>
            </a:avLst>
          </a:prstGeom>
          <a:solidFill>
            <a:srgbClr val="17111F"/>
          </a:solidFill>
          <a:ln w="12700">
            <a:solidFill>
              <a:srgbClr val="30243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592056" y="534009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为什么这样回复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592056" y="557784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等待下一次真实消息形成策略</a:t>
            </a:r>
            <a:endParaRPr lang="en-US" sz="810" dirty="0"/>
          </a:p>
        </p:txBody>
      </p:sp>
      <p:sp>
        <p:nvSpPr>
          <p:cNvPr id="98" name="Text 96"/>
          <p:cNvSpPr/>
          <p:nvPr/>
        </p:nvSpPr>
        <p:spPr>
          <a:xfrm>
            <a:off x="566928" y="634593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默认窗口：联系人列表可内部滚动；timeline 独立滚动；Reply Brain 可折叠；Inspector 可关闭；页面本身不做长网页滚动。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RELATIONSHIP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Brain：理解 → 判断 → 表达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它不是“AI 面板”，而是把整个言策能力汇聚成当前对话里可用的下一步。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401568" cy="3182112"/>
          </a:xfrm>
          <a:prstGeom prst="roundRect">
            <a:avLst>
              <a:gd name="adj" fmla="val 4023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2.578426424582819e+37" dist="3.437901899443759e+37" dir="4.5349632000000006e+44">
              <a:srgbClr val="000000">
                <a:alpha val="3e+4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6654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552" y="3090672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8094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当前消息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87552" y="3511296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4015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双语语义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3931920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8221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近期可信记忆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" y="4352544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4281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关系事实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23944" y="3383280"/>
            <a:ext cx="320040" cy="0"/>
          </a:xfrm>
          <a:prstGeom prst="line">
            <a:avLst/>
          </a:prstGeom>
          <a:noFill/>
          <a:ln w="21590">
            <a:solidFill>
              <a:srgbClr val="72508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98848" y="1828800"/>
            <a:ext cx="3401568" cy="3182112"/>
          </a:xfrm>
          <a:prstGeom prst="roundRect">
            <a:avLst>
              <a:gd name="adj" fmla="val 4023"/>
            </a:avLst>
          </a:prstGeom>
          <a:solidFill>
            <a:srgbClr val="21152C"/>
          </a:solidFill>
          <a:ln w="12700">
            <a:solidFill>
              <a:srgbClr val="7B4EA2"/>
            </a:solidFill>
            <a:prstDash val="solid"/>
          </a:ln>
          <a:effectLst>
            <a:outerShdw sx="100000" sy="100000" kx="0" ky="0" algn="bl" rotWithShape="0" blurRad="3.2746015592201804e+41" dist="4.366135412293574e+41" dir="2.72097792e+49">
              <a:srgbClr val="000000">
                <a:alpha val="2.9999999999999997e+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45736" y="206654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45736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73168" y="3090672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298094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关系阶段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3511296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34015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私密目标 / Journey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931920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38221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最近互动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4352544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424281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evidence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09560" y="3383280"/>
            <a:ext cx="320040" cy="0"/>
          </a:xfrm>
          <a:prstGeom prst="line">
            <a:avLst/>
          </a:prstGeom>
          <a:noFill/>
          <a:ln w="21590">
            <a:solidFill>
              <a:srgbClr val="72508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84464" y="1828800"/>
            <a:ext cx="3401568" cy="3182112"/>
          </a:xfrm>
          <a:prstGeom prst="roundRect">
            <a:avLst>
              <a:gd name="adj" fmla="val 4023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4.158743980209629e+45" dist="5.544991973612839e+45" dir="1.6325867520000003e+54">
              <a:srgbClr val="000000">
                <a:alpha val="2.9999999999999996e+5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31352" y="206654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31352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58784" y="3090672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298094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2–3 个策略候选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58784" y="3511296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59952" y="34015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语气可解释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58784" y="3931920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38221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用户可修改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58784" y="4352544"/>
            <a:ext cx="64008" cy="6400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424281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用户决定发送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532180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71820"/>
          </a:solidFill>
          <a:ln w="12700">
            <a:solidFill>
              <a:srgbClr val="6C3A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37667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不静默发送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1920240" y="532180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71820"/>
          </a:solidFill>
          <a:ln w="12700">
            <a:solidFill>
              <a:srgbClr val="6C3A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93392" y="53766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不把推断当事实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3346704" y="532180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271820"/>
          </a:solidFill>
          <a:ln w="12700">
            <a:solidFill>
              <a:srgbClr val="6C3A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9856" y="5376672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不暴露内部栈名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6720840" y="5230368"/>
            <a:ext cx="4608576" cy="621792"/>
          </a:xfrm>
          <a:prstGeom prst="roundRect">
            <a:avLst>
              <a:gd name="adj" fmla="val 20588"/>
            </a:avLst>
          </a:prstGeom>
          <a:solidFill>
            <a:srgbClr val="17121E"/>
          </a:solidFill>
          <a:ln w="12700">
            <a:solidFill>
              <a:srgbClr val="4632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04304" y="540410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最终输出：更适合此刻关系的候选回复 / 下一步行动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INSPECTOR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 · 记忆 · 目标：上下文，不是三个独立任务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只在与当前消息相关时浮现；深入管理时再进入专门工作区。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078224" cy="4069080"/>
          </a:xfrm>
          <a:prstGeom prst="roundRect">
            <a:avLst>
              <a:gd name="adj" fmla="val 3146"/>
            </a:avLst>
          </a:prstGeom>
          <a:solidFill>
            <a:srgbClr val="0E0C12"/>
          </a:solidFill>
          <a:ln w="12700">
            <a:solidFill>
              <a:srgbClr val="372845"/>
            </a:solidFill>
            <a:prstDash val="solid"/>
          </a:ln>
          <a:effectLst>
            <a:outerShdw sx="100000" sy="100000" kx="0" ky="0" algn="bl" rotWithShape="0" blurRad="5.281604854866228e+49" dist="7.042139806488305e+49" dir="9.795520512000002e+58">
              <a:srgbClr val="000000">
                <a:alpha val="2.9999999999999996e+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93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当前消息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3163824" cy="594360"/>
          </a:xfrm>
          <a:prstGeom prst="roundRect">
            <a:avLst>
              <a:gd name="adj" fmla="val 21538"/>
            </a:avLst>
          </a:prstGeom>
          <a:solidFill>
            <a:srgbClr val="24272E"/>
          </a:solidFill>
          <a:ln w="12700">
            <a:solidFill>
              <a:srgbClr val="383C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0545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“我最近真的有点累，可能想安静几天。”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1729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言策提取：需要空间 / 情绪负担 / 关系边界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" y="370332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2A1B39"/>
          </a:solidFill>
          <a:ln w="12700">
            <a:solidFill>
              <a:srgbClr val="6F4A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581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32688" y="413308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建议先回应理解，不推进邀约。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46908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“我懂，你先照顾好自己。等你想聊的时候我在。”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4920" y="1783080"/>
            <a:ext cx="6126480" cy="1115568"/>
          </a:xfrm>
          <a:prstGeom prst="roundRect">
            <a:avLst>
              <a:gd name="adj" fmla="val 11475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947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19293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最近互动：昨天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关系阶段：正在形成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建议：保持温度，不施压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829800" y="24780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D1825"/>
          </a:solidFill>
          <a:ln w="12700">
            <a:solidFill>
              <a:srgbClr val="4E3A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2952" y="253288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当前上下文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074920" y="3136392"/>
            <a:ext cx="6126480" cy="1115568"/>
          </a:xfrm>
          <a:prstGeom prst="roundRect">
            <a:avLst>
              <a:gd name="adj" fmla="val 11475"/>
            </a:avLst>
          </a:prstGeom>
          <a:solidFill>
            <a:srgbClr val="17231F"/>
          </a:solidFill>
          <a:ln w="12700">
            <a:solidFill>
              <a:srgbClr val="2F6B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28269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周前：她提到工作压力较大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来源：真实对话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在回复中使用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829800" y="38313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A2B24"/>
          </a:solidFill>
          <a:ln w="12700">
            <a:solidFill>
              <a:srgbClr val="376C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2952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来源可追溯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074920" y="4489704"/>
            <a:ext cx="6126480" cy="1115568"/>
          </a:xfrm>
          <a:prstGeom prst="roundRect">
            <a:avLst>
              <a:gd name="adj" fmla="val 11475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46542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6360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私密意图：恢复稳定联系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当前节奏：轻量互动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暂停推进邀约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829800" y="5184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D1825"/>
          </a:solidFill>
          <a:ln w="12700">
            <a:solidFill>
              <a:srgbClr val="4E3A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02952" y="5239512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当前上下文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138928" y="596188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≠ 推断：AI inference 永远不能静默升级成 confirmed fact。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BILINGUAL EXPERIENCE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双语翻译：默认隐形，按需可见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翻译是“对话能力”，不是用户每天都要进入的独立页面。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3474720"/>
          </a:xfrm>
          <a:prstGeom prst="roundRect">
            <a:avLst>
              <a:gd name="adj" fmla="val 3684"/>
            </a:avLst>
          </a:prstGeom>
          <a:solidFill>
            <a:srgbClr val="101019"/>
          </a:solidFill>
          <a:ln w="12700">
            <a:solidFill>
              <a:srgbClr val="34283F"/>
            </a:solidFill>
            <a:prstDash val="solid"/>
          </a:ln>
          <a:effectLst>
            <a:outerShdw sx="100000" sy="100000" kx="0" ky="0" algn="bl" rotWithShape="0" blurRad="6.70763816568011e+53" dist="8.943517554240149e+53" dir="5.877312307200001e+63">
              <a:srgbClr val="000000">
                <a:alpha val="2.9999999999999996e+6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6A9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收到外语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87552" y="2487168"/>
            <a:ext cx="4297680" cy="621792"/>
          </a:xfrm>
          <a:prstGeom prst="roundRect">
            <a:avLst>
              <a:gd name="adj" fmla="val 20588"/>
            </a:avLst>
          </a:prstGeom>
          <a:solidFill>
            <a:srgbClr val="252932"/>
          </a:solidFill>
          <a:ln w="12700">
            <a:solidFill>
              <a:srgbClr val="3A3E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700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Nähe gibt Geborgenheit. Kann nie nah genug sein.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987552" y="33467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81421"/>
          </a:solidFill>
          <a:ln w="12700">
            <a:solidFill>
              <a:srgbClr val="483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40156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查看中文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987552" y="3822192"/>
            <a:ext cx="4297680" cy="768096"/>
          </a:xfrm>
          <a:prstGeom prst="roundRect">
            <a:avLst>
              <a:gd name="adj" fmla="val 16667"/>
            </a:avLst>
          </a:prstGeom>
          <a:solidFill>
            <a:srgbClr val="181421"/>
          </a:solidFill>
          <a:ln w="12700">
            <a:solidFill>
              <a:srgbClr val="40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40416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亲近会带来安全感。再近一点也不嫌多。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48280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原消息不被改写；只提供按需视图。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5230368" cy="3474720"/>
          </a:xfrm>
          <a:prstGeom prst="roundRect">
            <a:avLst>
              <a:gd name="adj" fmla="val 3684"/>
            </a:avLst>
          </a:prstGeom>
          <a:solidFill>
            <a:srgbClr val="101019"/>
          </a:solidFill>
          <a:ln w="12700">
            <a:solidFill>
              <a:srgbClr val="34283F"/>
            </a:solidFill>
            <a:prstDash val="solid"/>
          </a:ln>
          <a:effectLst>
            <a:outerShdw sx="100000" sy="100000" kx="0" ky="0" algn="bl" rotWithShape="0" blurRad="8.518700470413739e+57" dist="1.1358267293884988e+58" dir="3.526387384320001e+68">
              <a:srgbClr val="000000">
                <a:alpha val="2.9999999999999995e+6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0B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准备回复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2487168"/>
            <a:ext cx="4224528" cy="512064"/>
          </a:xfrm>
          <a:prstGeom prst="roundRect">
            <a:avLst>
              <a:gd name="adj" fmla="val 25000"/>
            </a:avLst>
          </a:prstGeom>
          <a:solidFill>
            <a:srgbClr val="17131E"/>
          </a:solidFill>
          <a:ln w="12700">
            <a:solidFill>
              <a:srgbClr val="3D2F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63347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中文意图：别给压力，但表达我在乎。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492240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双语预览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639312"/>
            <a:ext cx="4224528" cy="841248"/>
          </a:xfrm>
          <a:prstGeom prst="roundRect">
            <a:avLst>
              <a:gd name="adj" fmla="val 15217"/>
            </a:avLst>
          </a:prstGeom>
          <a:solidFill>
            <a:srgbClr val="21162A"/>
          </a:solidFill>
          <a:ln w="12700">
            <a:solidFill>
              <a:srgbClr val="5A3B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3794760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Ich verstehe. Kümmere dich erstmal gut um dich.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Wenn du reden willst, bin ich da.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63456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2A1B3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482803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使用该版本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61888" y="3538728"/>
            <a:ext cx="237744" cy="0"/>
          </a:xfrm>
          <a:prstGeom prst="line">
            <a:avLst/>
          </a:prstGeom>
          <a:noFill/>
          <a:ln w="21590">
            <a:solidFill>
              <a:srgbClr val="684B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Brain：用户可控，但模型不是产品主角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普通用户看到真实模型名与用途；复杂 routing、credential、logical task 进入高级诊断。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12080" cy="3840480"/>
          </a:xfrm>
          <a:prstGeom prst="roundRect">
            <a:avLst>
              <a:gd name="adj" fmla="val 3333"/>
            </a:avLst>
          </a:prstGeom>
          <a:solidFill>
            <a:srgbClr val="0F0D15"/>
          </a:solidFill>
          <a:ln w="12700">
            <a:solidFill>
              <a:srgbClr val="352740"/>
            </a:solidFill>
            <a:prstDash val="solid"/>
          </a:ln>
          <a:effectLst>
            <a:outerShdw sx="100000" sy="100000" kx="0" ky="0" algn="bl" rotWithShape="0" blurRad="1.081874959742545e+62" dist="1.4424999463233936e+62" dir="2.1158324305920003e+73">
              <a:srgbClr val="000000">
                <a:alpha val="2.9999999999999995e+7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84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对话内 · 临时偏好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2578608"/>
            <a:ext cx="4480560" cy="548640"/>
          </a:xfrm>
          <a:prstGeom prst="roundRect">
            <a:avLst>
              <a:gd name="adj" fmla="val 23333"/>
            </a:avLst>
          </a:prstGeom>
          <a:solidFill>
            <a:srgbClr val="17131F"/>
          </a:solidFill>
          <a:ln w="12700">
            <a:solidFill>
              <a:srgbClr val="4A36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697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3192D"/>
          </a:solidFill>
          <a:ln w="12700">
            <a:solidFill>
              <a:srgbClr val="5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5234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自动模型 ▼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340864" y="269748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3192D"/>
          </a:solidFill>
          <a:ln w="12700">
            <a:solidFill>
              <a:srgbClr val="5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275234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推理强度 · 中 ▼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895344" y="269748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23192D"/>
          </a:solidFill>
          <a:ln w="12700">
            <a:solidFill>
              <a:srgbClr val="5A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75234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 ○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点击“自动模型”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3822192"/>
            <a:ext cx="3611880" cy="1335024"/>
          </a:xfrm>
          <a:prstGeom prst="roundRect">
            <a:avLst>
              <a:gd name="adj" fmla="val 9589"/>
            </a:avLst>
          </a:prstGeom>
          <a:solidFill>
            <a:srgbClr val="15111D"/>
          </a:solidFill>
          <a:ln w="12700">
            <a:solidFill>
              <a:srgbClr val="3C2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97764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自动选择  ✓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170432" y="424281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mini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170432" y="45079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Sonnet 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170432" y="477316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 2.5 Flash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0120" y="5321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Provider 分组 · 搜索 · 显示已验证状态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44768" y="1828800"/>
            <a:ext cx="5303520" cy="3840480"/>
          </a:xfrm>
          <a:prstGeom prst="roundRect">
            <a:avLst>
              <a:gd name="adj" fmla="val 3333"/>
            </a:avLst>
          </a:prstGeom>
          <a:solidFill>
            <a:srgbClr val="0F0D15"/>
          </a:solidFill>
          <a:ln w="12700">
            <a:solidFill>
              <a:srgbClr val="352740"/>
            </a:solidFill>
            <a:prstDash val="solid"/>
          </a:ln>
          <a:effectLst>
            <a:outerShdw sx="100000" sy="100000" kx="0" ky="0" algn="bl" rotWithShape="0" blurRad="1.373981198873032e+66" dist="1.83197493183071e+66" dir="1.2694994583552002e+78">
              <a:srgbClr val="000000">
                <a:alpha val="3e+7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9088" y="2084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系统级 · 言策能力绑定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19088" y="2596896"/>
            <a:ext cx="4736592" cy="384048"/>
          </a:xfrm>
          <a:prstGeom prst="roundRect">
            <a:avLst>
              <a:gd name="adj" fmla="val 33333"/>
            </a:avLst>
          </a:prstGeom>
          <a:solidFill>
            <a:srgbClr val="15111D"/>
          </a:solidFill>
          <a:ln w="12700">
            <a:solidFill>
              <a:srgbClr val="2D24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69748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快速回复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726680" y="269748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mini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9262872" y="269748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573768" y="269748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 Flash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19088" y="3099816"/>
            <a:ext cx="4736592" cy="384048"/>
          </a:xfrm>
          <a:prstGeom prst="roundRect">
            <a:avLst>
              <a:gd name="adj" fmla="val 33333"/>
            </a:avLst>
          </a:prstGeom>
          <a:solidFill>
            <a:srgbClr val="15111D"/>
          </a:solidFill>
          <a:ln w="12700">
            <a:solidFill>
              <a:srgbClr val="2D24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320040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深度回复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726680" y="32004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Sonnet 4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262872" y="320040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573768" y="32004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mini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19088" y="3602736"/>
            <a:ext cx="4736592" cy="384048"/>
          </a:xfrm>
          <a:prstGeom prst="roundRect">
            <a:avLst>
              <a:gd name="adj" fmla="val 33333"/>
            </a:avLst>
          </a:prstGeom>
          <a:solidFill>
            <a:srgbClr val="15111D"/>
          </a:solidFill>
          <a:ln w="12700">
            <a:solidFill>
              <a:srgbClr val="2D24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70332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双语翻译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726680" y="370332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HY-MT2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262872" y="370332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573768" y="370332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 Flash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19088" y="4105656"/>
            <a:ext cx="4736592" cy="384048"/>
          </a:xfrm>
          <a:prstGeom prst="roundRect">
            <a:avLst>
              <a:gd name="adj" fmla="val 33333"/>
            </a:avLst>
          </a:prstGeom>
          <a:solidFill>
            <a:srgbClr val="15111D"/>
          </a:solidFill>
          <a:ln w="12700">
            <a:solidFill>
              <a:srgbClr val="2D24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2062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关系分析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7726680" y="42062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Sonnet 4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262872" y="420624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573768" y="42062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mini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19088" y="4608576"/>
            <a:ext cx="4736592" cy="384048"/>
          </a:xfrm>
          <a:prstGeom prst="roundRect">
            <a:avLst>
              <a:gd name="adj" fmla="val 33333"/>
            </a:avLst>
          </a:prstGeom>
          <a:solidFill>
            <a:srgbClr val="15111D"/>
          </a:solidFill>
          <a:ln w="12700">
            <a:solidFill>
              <a:srgbClr val="2D24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4709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/ 记忆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7726680" y="470916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mini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9262872" y="470916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573768" y="4709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19088" y="52578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LiteLLM：真实请求 · retry · fallback；未验证模型不能进入正式功能。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MULTIMODAL ACTION DOCK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Voice · Media · Live：围绕 Composer 的输出能力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生成不是目的；真正价值是“此刻这场对话该用什么方式表达”。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10808208" cy="658368"/>
          </a:xfrm>
          <a:prstGeom prst="roundRect">
            <a:avLst>
              <a:gd name="adj" fmla="val 19444"/>
            </a:avLst>
          </a:prstGeom>
          <a:solidFill>
            <a:srgbClr val="15111D"/>
          </a:solidFill>
          <a:ln w="12700">
            <a:solidFill>
              <a:srgbClr val="49345C"/>
            </a:solidFill>
            <a:prstDash val="solid"/>
          </a:ln>
          <a:effectLst>
            <a:outerShdw sx="100000" sy="100000" kx="0" ky="0" algn="bl" rotWithShape="0" blurRad="1.7449561225687507e+70" dist="2.3266081634250016e+70" dir="7.616996750131201e+82">
              <a:srgbClr val="000000">
                <a:alpha val="2.9999999999999995e+8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29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Element Composer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834640" y="1984248"/>
            <a:ext cx="420624" cy="310896"/>
          </a:xfrm>
          <a:prstGeom prst="roundRect">
            <a:avLst>
              <a:gd name="adj" fmla="val 50000"/>
            </a:avLst>
          </a:prstGeom>
          <a:solidFill>
            <a:srgbClr val="2A1B3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20391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401568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  ·  语音  ·  Live  ·  附件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924544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不跳离当前对话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4944" y="2880360"/>
            <a:ext cx="10808208" cy="749808"/>
          </a:xfrm>
          <a:prstGeom prst="roundRect">
            <a:avLst>
              <a:gd name="adj" fmla="val 17073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081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Voice Brain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542032" y="304495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30998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建议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858768" y="31272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60520" y="304495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30998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用我的声音说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477256" y="31272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79008" y="304495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0998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CosyVoice 生成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095744" y="31272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97496" y="304495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30998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本地试听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714232" y="31272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15984" y="304495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7650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30998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真实发送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94944" y="3867912"/>
            <a:ext cx="10808208" cy="749808"/>
          </a:xfrm>
          <a:prstGeom prst="roundRect">
            <a:avLst>
              <a:gd name="adj" fmla="val 17073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069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 Brain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2542032" y="40325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40873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3858768" y="4114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60520" y="40325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33672" y="40873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/ 选择素材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477256" y="4114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79008" y="40325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0873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ComfyUI / Immich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7095744" y="4114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97496" y="40325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0648" y="40873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714232" y="4114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015984" y="40325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7650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89136" y="40873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真实发送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94944" y="4855464"/>
            <a:ext cx="10808208" cy="749808"/>
          </a:xfrm>
          <a:prstGeom prst="roundRect">
            <a:avLst>
              <a:gd name="adj" fmla="val 17073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" y="5056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0B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Presence / Live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2542032" y="5020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15184" y="50749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当前人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3858768" y="5102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60520" y="5020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50749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 / Presence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5477256" y="5102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79008" y="5020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50749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Avatar / Live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7095744" y="5102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97496" y="5020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382A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70648" y="50749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进入实时互动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8714232" y="5102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15984" y="5020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8131F"/>
          </a:solidFill>
          <a:ln w="12700">
            <a:solidFill>
              <a:srgbClr val="76509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89136" y="50749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真实通信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731520" y="605332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发送权威始终是 Element / Matrix；Yance 负责建议、生成、预览和上下文编排。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LOOP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Brain：从真实结果中学习，而不是占据用户视线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学习的输入不是“模型自己说自己做得好”，而是真实的人类选择和关系结果。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5111D"/>
          </a:solidFill>
          <a:ln w="12700">
            <a:solidFill>
              <a:srgbClr val="322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3317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候选建议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850392" y="26426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2532888"/>
            <a:ext cx="384048" cy="0"/>
          </a:xfrm>
          <a:prstGeom prst="line">
            <a:avLst/>
          </a:prstGeom>
          <a:noFill/>
          <a:ln w="21590">
            <a:solidFill>
              <a:srgbClr val="6548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084832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5111D"/>
          </a:solidFill>
          <a:ln w="12700">
            <a:solidFill>
              <a:srgbClr val="322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3317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用户修改 / 选择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090672" y="26426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intent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2532888"/>
            <a:ext cx="384048" cy="0"/>
          </a:xfrm>
          <a:prstGeom prst="line">
            <a:avLst/>
          </a:prstGeom>
          <a:noFill/>
          <a:ln w="21590">
            <a:solidFill>
              <a:srgbClr val="6548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2084832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5111D"/>
          </a:solidFill>
          <a:ln w="12700">
            <a:solidFill>
              <a:srgbClr val="322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23317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实际发送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5330952" y="26426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2532888"/>
            <a:ext cx="384048" cy="0"/>
          </a:xfrm>
          <a:prstGeom prst="line">
            <a:avLst/>
          </a:prstGeom>
          <a:noFill/>
          <a:ln w="21590">
            <a:solidFill>
              <a:srgbClr val="6548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2084832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5111D"/>
          </a:solidFill>
          <a:ln w="12700">
            <a:solidFill>
              <a:srgbClr val="322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23317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真实回复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571232" y="26426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Counterparty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235440" y="2532888"/>
            <a:ext cx="384048" cy="0"/>
          </a:xfrm>
          <a:prstGeom prst="line">
            <a:avLst/>
          </a:prstGeom>
          <a:noFill/>
          <a:ln w="21590">
            <a:solidFill>
              <a:srgbClr val="6548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46920" y="2084832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5111D"/>
          </a:solidFill>
          <a:ln w="12700">
            <a:solidFill>
              <a:srgbClr val="322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23317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关系结果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811512" y="264261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Outcome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08960" y="3730752"/>
            <a:ext cx="5989320" cy="1024128"/>
          </a:xfrm>
          <a:prstGeom prst="roundRect">
            <a:avLst>
              <a:gd name="adj" fmla="val 12500"/>
            </a:avLst>
          </a:prstGeom>
          <a:solidFill>
            <a:srgbClr val="20142A"/>
          </a:solidFill>
          <a:ln w="12700">
            <a:solidFill>
              <a:srgbClr val="6C4690"/>
            </a:solidFill>
            <a:prstDash val="solid"/>
          </a:ln>
          <a:effectLst>
            <a:outerShdw sx="100000" sy="100000" kx="0" ky="0" algn="bl" rotWithShape="0" blurRad="2.2160942756623134e+74" dist="2.954792367549752e+74" dir="4.57019805007872e+87">
              <a:srgbClr val="000000">
                <a:alpha val="2.9999999999999996e+8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Brain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39684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 → evaluation → optimization → rollout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10149840" y="3017520"/>
            <a:ext cx="0" cy="1225296"/>
          </a:xfrm>
          <a:prstGeom prst="line">
            <a:avLst/>
          </a:prstGeom>
          <a:noFill/>
          <a:ln w="19050">
            <a:solidFill>
              <a:srgbClr val="6950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108960" y="4242816"/>
            <a:ext cx="-1508760" cy="0"/>
          </a:xfrm>
          <a:prstGeom prst="line">
            <a:avLst/>
          </a:prstGeom>
          <a:noFill/>
          <a:ln w="19050">
            <a:solidFill>
              <a:srgbClr val="6950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4242816"/>
            <a:ext cx="0" cy="-1179576"/>
          </a:xfrm>
          <a:prstGeom prst="line">
            <a:avLst/>
          </a:prstGeom>
          <a:noFill/>
          <a:ln w="19050">
            <a:solidFill>
              <a:srgbClr val="6950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3232" y="5138928"/>
            <a:ext cx="10762488" cy="676656"/>
          </a:xfrm>
          <a:prstGeom prst="roundRect">
            <a:avLst>
              <a:gd name="adj" fmla="val 18919"/>
            </a:avLst>
          </a:prstGeom>
          <a:solidFill>
            <a:srgbClr val="111017"/>
          </a:solidFill>
          <a:ln w="12700">
            <a:solidFill>
              <a:srgbClr val="2D23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34924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用户看到的结果：建议越来越贴合自己；用户不需要天天进入“学习 Dashboard”。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DEDICATED WORKSPACES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专门工作区：只在“深度管理”时出现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日常能力上下文化；管理能力专门化。不要让用户为了一个小动作在多个页面之间往返。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847088"/>
            <a:ext cx="5175504" cy="1600200"/>
          </a:xfrm>
          <a:prstGeom prst="roundRect">
            <a:avLst>
              <a:gd name="adj" fmla="val 8000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2.814439730091138e+78" dist="3.752586306788185e+78" dir="2.742118830047232e+92">
              <a:srgbClr val="000000">
                <a:alpha val="2.9999999999999997e+9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176272"/>
            <a:ext cx="91440" cy="91440"/>
          </a:xfrm>
          <a:prstGeom prst="ellipse">
            <a:avLst/>
          </a:prstGeom>
          <a:solidFill>
            <a:srgbClr val="6FD5E8"/>
          </a:solidFill>
          <a:ln w="12700">
            <a:solidFill>
              <a:srgbClr val="6FD5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2048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 / People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5786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我现在最应该关注谁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重要的人 · 最近的人 · 关系下一步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54496" y="1847088"/>
            <a:ext cx="5175504" cy="1600200"/>
          </a:xfrm>
          <a:prstGeom prst="roundRect">
            <a:avLst>
              <a:gd name="adj" fmla="val 8000"/>
            </a:avLst>
          </a:prstGeom>
          <a:solidFill>
            <a:srgbClr val="15111D"/>
          </a:solidFill>
          <a:ln w="12700">
            <a:solidFill>
              <a:srgbClr val="5C3C70"/>
            </a:solidFill>
            <a:prstDash val="solid"/>
          </a:ln>
          <a:effectLst>
            <a:outerShdw sx="100000" sy="100000" kx="0" ky="0" algn="bl" rotWithShape="0" blurRad="3.574338457215745e+82" dist="4.765784609620995e+82" dir="1.6452712980283393e+97">
              <a:srgbClr val="000000">
                <a:alpha val="2.9999999999999997e+9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2176272"/>
            <a:ext cx="91440" cy="91440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7416" y="2048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Relationship World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47104" y="25786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深入看一个人的关系空间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47104" y="29443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共享时刻 · 关系图 · 历史 · 深度洞察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" y="3785616"/>
            <a:ext cx="5175504" cy="1600200"/>
          </a:xfrm>
          <a:prstGeom prst="roundRect">
            <a:avLst>
              <a:gd name="adj" fmla="val 8000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4.539409840663996e+86" dist="6.052546454218663e+86" dir="9.871627788170037e+101">
              <a:srgbClr val="000000">
                <a:alpha val="3e+10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" y="4114800"/>
            <a:ext cx="91440" cy="9144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工作台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451713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跨人物 / 跨上下文的主动 AI 任务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48828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不是日常关系内 AI 的替代品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4496" y="3785616"/>
            <a:ext cx="5175504" cy="1600200"/>
          </a:xfrm>
          <a:prstGeom prst="roundRect">
            <a:avLst>
              <a:gd name="adj" fmla="val 8000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5.765050497643275e+90" dist="7.6867339968577025e+90" dir="5.9229766729020215e+106">
              <a:srgbClr val="000000">
                <a:alpha val="2.9999999999999997e+1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4114800"/>
            <a:ext cx="91440" cy="91440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 / 模型 / 数据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451713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基础设施、策略与高级诊断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47104" y="48828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/ 模型 / 数据 / 隐私 / runtime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5980176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关系世界应该由“当前人物”进入；模型中心应该以“模型对象”而不是“功能菜单”组织。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VISUAL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视觉语言：Premium Calm &gt; Spectacle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高级感来自克制、上下文、连续性和智能的隐形，而不是紫色更多、卡片更多、Glow 更多。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COLOR STORY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0B0B10"/>
          </a:solidFill>
          <a:ln w="12700">
            <a:solidFill>
              <a:srgbClr val="302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Graphite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2231136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17131F"/>
          </a:solidFill>
          <a:ln w="12700">
            <a:solidFill>
              <a:srgbClr val="3026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Night Surface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749040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241B32"/>
          </a:solidFill>
          <a:ln w="12700">
            <a:solidFill>
              <a:srgbClr val="3026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Elevated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5266944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Yance Violet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784848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D8C5FF"/>
          </a:solidFill>
          <a:ln w="12700">
            <a:solidFill>
              <a:srgbClr val="D8C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Lavender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302752" y="2176272"/>
            <a:ext cx="1325880" cy="786384"/>
          </a:xfrm>
          <a:prstGeom prst="roundRect">
            <a:avLst>
              <a:gd name="adj" fmla="val 13953"/>
            </a:avLst>
          </a:prstGeom>
          <a:solidFill>
            <a:srgbClr val="F0B16A"/>
          </a:solidFill>
          <a:ln w="12700">
            <a:solidFill>
              <a:srgbClr val="F0B1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30815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Warmth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13232" y="3657600"/>
            <a:ext cx="5257800" cy="1828800"/>
          </a:xfrm>
          <a:prstGeom prst="roundRect">
            <a:avLst>
              <a:gd name="adj" fmla="val 7000"/>
            </a:avLst>
          </a:prstGeom>
          <a:solidFill>
            <a:srgbClr val="111817"/>
          </a:solidFill>
          <a:ln w="12700">
            <a:solidFill>
              <a:srgbClr val="2B4D44"/>
            </a:solidFill>
            <a:prstDash val="solid"/>
          </a:ln>
          <a:effectLst>
            <a:outerShdw sx="100000" sy="100000" kx="0" ky="0" algn="bl" rotWithShape="0" blurRad="7.321614132006959e+94" dist="9.762152176009283e+94" dir="3.553786003741213e+111">
              <a:srgbClr val="000000">
                <a:alpha val="2.9999999999999995e+11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7552" y="38953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 — 高级感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552" y="4315968"/>
            <a:ext cx="49378" cy="4937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2428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深暖中性 / graphite 做基底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87552" y="4544568"/>
            <a:ext cx="49378" cy="4937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44714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 border 低对比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87552" y="4773168"/>
            <a:ext cx="49378" cy="4937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47000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紫色只用于选中 / AI / CTA / Focus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87552" y="5001768"/>
            <a:ext cx="49378" cy="4937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2144" y="49286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最多三层视觉深度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87552" y="5230368"/>
            <a:ext cx="49378" cy="49378"/>
          </a:xfrm>
          <a:prstGeom prst="ellipse">
            <a:avLst/>
          </a:prstGeom>
          <a:solidFill>
            <a:srgbClr val="6ED3A7"/>
          </a:solidFill>
          <a:ln w="12700">
            <a:solidFill>
              <a:srgbClr val="6ED3A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51572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关系色通过语义 token 克制出现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199632" y="3657600"/>
            <a:ext cx="5257800" cy="1828800"/>
          </a:xfrm>
          <a:prstGeom prst="roundRect">
            <a:avLst>
              <a:gd name="adj" fmla="val 7000"/>
            </a:avLst>
          </a:prstGeom>
          <a:solidFill>
            <a:srgbClr val="1A1116"/>
          </a:solidFill>
          <a:ln w="12700">
            <a:solidFill>
              <a:srgbClr val="55313D"/>
            </a:solidFill>
            <a:prstDash val="solid"/>
          </a:ln>
          <a:effectLst>
            <a:outerShdw sx="100000" sy="100000" kx="0" ky="0" algn="bl" rotWithShape="0" blurRad="9.298449947648839e+98" dist="1.2397933263531789e+99" dir="2.1322716022447277e+116">
              <a:srgbClr val="000000">
                <a:alpha val="2.9999999999999997e+11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3952" y="3895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DON’T — 网页 / HUD 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73952" y="4315968"/>
            <a:ext cx="49378" cy="4937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42428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neon outline everywhere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73952" y="4544568"/>
            <a:ext cx="49378" cy="4937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44714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全屏紫光与永久 particles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6473952" y="4773168"/>
            <a:ext cx="49378" cy="4937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7000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彩虹渐变 / cyberpunk HUD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473952" y="5001768"/>
            <a:ext cx="49378" cy="4937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49286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首屏堆统计卡和说明文字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473952" y="5230368"/>
            <a:ext cx="49378" cy="49378"/>
          </a:xfrm>
          <a:prstGeom prst="ellipse">
            <a:avLst/>
          </a:prstGeom>
          <a:solidFill>
            <a:srgbClr val="E78CB2"/>
          </a:solidFill>
          <a:ln w="12700">
            <a:solidFill>
              <a:srgbClr val="E78CB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51572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所有模块都做成大卡片 Dashboard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731520" y="594360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体验目标：Signal private-chat calm + console-quality feedback + Nintendo-like delight + Apple-like polish + Yance relationship intelligence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 &amp; RESPONSIVE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默认窗口：先保证桌面生产力，再谈大屏展示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桌面应用不是网页。默认窗口必须完成核心任务，不能依赖“最大化后才正常”。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92224"/>
            <a:ext cx="7827264" cy="4160520"/>
          </a:xfrm>
          <a:prstGeom prst="roundRect">
            <a:avLst>
              <a:gd name="adj" fmla="val 3077"/>
            </a:avLst>
          </a:prstGeom>
          <a:solidFill>
            <a:srgbClr val="0E0C12"/>
          </a:solidFill>
          <a:ln w="12700">
            <a:solidFill>
              <a:srgbClr val="42324F"/>
            </a:solidFill>
            <a:prstDash val="solid"/>
          </a:ln>
          <a:effectLst>
            <a:outerShdw sx="100000" sy="100000" kx="0" ky="0" algn="bl" rotWithShape="0" blurRad="1.1809031433514024e+103" dist="1.574537524468537e+103" dir="1.2793629613468366e+121">
              <a:srgbClr val="000000">
                <a:alpha val="2.9999999999999995e+1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92224"/>
            <a:ext cx="7827264" cy="256032"/>
          </a:xfrm>
          <a:prstGeom prst="rect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4708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C9A9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Yance [29]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726680" y="184708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B7B2B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  □  ×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21792" cy="3904488"/>
          </a:xfrm>
          <a:prstGeom prst="rect">
            <a:avLst/>
          </a:prstGeom>
          <a:solidFill>
            <a:srgbClr val="15101D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2048256"/>
            <a:ext cx="1783080" cy="3904488"/>
          </a:xfrm>
          <a:prstGeom prst="rect">
            <a:avLst/>
          </a:prstGeom>
          <a:solidFill>
            <a:srgbClr val="101018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2048256"/>
            <a:ext cx="3456432" cy="3904488"/>
          </a:xfrm>
          <a:prstGeom prst="rect">
            <a:avLst/>
          </a:prstGeom>
          <a:solidFill>
            <a:srgbClr val="0B0A0F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4536" y="2048256"/>
            <a:ext cx="1965960" cy="3904488"/>
          </a:xfrm>
          <a:prstGeom prst="rect">
            <a:avLst/>
          </a:prstGeom>
          <a:solidFill>
            <a:srgbClr val="13101B"/>
          </a:solidFill>
          <a:ln w="12700">
            <a:solidFill>
              <a:srgbClr val="2B2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Global Rail</a:t>
            </a:r>
            <a:endParaRPr lang="en-US" sz="770" dirty="0"/>
          </a:p>
          <a:p>
            <a:pPr algn="ctr" indent="0" marL="0">
              <a:buNone/>
            </a:pPr>
            <a:r>
              <a:rPr lang="en-US" sz="77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80–92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1499616" y="3794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220–280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3675888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WORKSPACE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空间优先级最高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821424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Inspector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280–340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优先收起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833104" y="1792224"/>
            <a:ext cx="2514600" cy="960120"/>
          </a:xfrm>
          <a:prstGeom prst="roundRect">
            <a:avLst>
              <a:gd name="adj" fmla="val 13333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1.499746992056281e+107" dist="1.9996626560750422e+107" dir="7.67617776808102e+125">
              <a:srgbClr val="000000">
                <a:alpha val="2.9999999999999997e+12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19842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设计基准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98280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 1200 × 760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33104" y="2889504"/>
            <a:ext cx="2514600" cy="960120"/>
          </a:xfrm>
          <a:prstGeom prst="roundRect">
            <a:avLst>
              <a:gd name="adj" fmla="val 13333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1.904678679911477e+111" dist="2.5395715732153033e+111" dir="4.605706660848612e+130">
              <a:srgbClr val="000000">
                <a:alpha val="2.9999999999999996e+13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98280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首次启动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98280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 Area 85–90%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33104" y="3986784"/>
            <a:ext cx="2514600" cy="960120"/>
          </a:xfrm>
          <a:prstGeom prst="roundRect">
            <a:avLst>
              <a:gd name="adj" fmla="val 13333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2.418941923487576e+115" dist="3.2252558979834354e+115" dir="2.763423996509167e+135">
              <a:srgbClr val="000000">
                <a:alpha val="2.9999999999999994e+13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4178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缩放验收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98280" y="4462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/ 125 / 150%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33104" y="5084064"/>
            <a:ext cx="2514600" cy="868680"/>
          </a:xfrm>
          <a:prstGeom prst="roundRect">
            <a:avLst>
              <a:gd name="adj" fmla="val 14737"/>
            </a:avLst>
          </a:prstGeom>
          <a:solidFill>
            <a:srgbClr val="15111D"/>
          </a:solidFill>
          <a:ln w="12700">
            <a:solidFill>
              <a:srgbClr val="3A2B49"/>
            </a:solidFill>
            <a:prstDash val="solid"/>
          </a:ln>
          <a:effectLst>
            <a:outerShdw sx="100000" sy="100000" kx="0" ky="0" algn="bl" rotWithShape="0" blurRad="3.0720562428292216e+119" dist="4.0960749904389626e+119" dir="1.6580543979055002e+140">
              <a:srgbClr val="000000">
                <a:alpha val="2.9999999999999996e+14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98280" y="52395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Caption safe area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Composer geometry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Pane independent scroll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MIGRATION PRINCIPLES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从当前界面到最终形态：只改产品编排，不重建能力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减少“后台配置页”和“功能平铺”，把成熟能力重新放回人物与对话上下文。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972800" cy="658368"/>
          </a:xfrm>
          <a:prstGeom prst="roundRect">
            <a:avLst>
              <a:gd name="adj" fmla="val 19444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47672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0141A"/>
          </a:solidFill>
          <a:ln w="12700">
            <a:solidFill>
              <a:srgbClr val="613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0025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664208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模型中心：功能列表 → 大表单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5486400" y="1956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25312" y="1947672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211C"/>
          </a:solidFill>
          <a:ln w="12700">
            <a:solidFill>
              <a:srgbClr val="3265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8464" y="20025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6693408" y="194767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模型列表（对象） → 用途 / 主备路由 / 对话内快速选择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2633472"/>
            <a:ext cx="10972800" cy="658368"/>
          </a:xfrm>
          <a:prstGeom prst="roundRect">
            <a:avLst>
              <a:gd name="adj" fmla="val 19444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798064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0141A"/>
          </a:solidFill>
          <a:ln w="12700">
            <a:solidFill>
              <a:srgbClr val="6136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52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66420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对话：AI / 关系 / 记忆 / 目标彼此分散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486400" y="28072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25312" y="2798064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211C"/>
          </a:solidFill>
          <a:ln w="12700">
            <a:solidFill>
              <a:srgbClr val="3265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2852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693408" y="2798064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Reply Brain 统一编排，Inspector 只解释当前上下文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3483864"/>
            <a:ext cx="10972800" cy="658368"/>
          </a:xfrm>
          <a:prstGeom prst="roundRect">
            <a:avLst>
              <a:gd name="adj" fmla="val 19444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3648456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0141A"/>
          </a:solidFill>
          <a:ln w="12700">
            <a:solidFill>
              <a:srgbClr val="6136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7033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664208" y="3648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 / 声音 / Presence 像独立能力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5486400" y="3657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25312" y="3648456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211C"/>
          </a:solidFill>
          <a:ln w="12700">
            <a:solidFill>
              <a:srgbClr val="3265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37033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93408" y="364845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 Composer 的 Action Dock，生成→预览→真实发送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85800" y="4334256"/>
            <a:ext cx="10972800" cy="658368"/>
          </a:xfrm>
          <a:prstGeom prst="roundRect">
            <a:avLst>
              <a:gd name="adj" fmla="val 19444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4498848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0141A"/>
          </a:solidFill>
          <a:ln w="12700">
            <a:solidFill>
              <a:srgbClr val="6136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455371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1664208" y="4498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 / 模型 / 技术状态可见度偏高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5486400" y="45079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25312" y="4498848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211C"/>
          </a:solidFill>
          <a:ln w="12700">
            <a:solidFill>
              <a:srgbClr val="3265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98464" y="455371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6693408" y="4498848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后台协同；普通用户只看到真实价值，高级诊断再暴露内部细节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85800" y="5184648"/>
            <a:ext cx="10972800" cy="658368"/>
          </a:xfrm>
          <a:prstGeom prst="roundRect">
            <a:avLst>
              <a:gd name="adj" fmla="val 19444"/>
            </a:avLst>
          </a:prstGeom>
          <a:solidFill>
            <a:srgbClr val="111017"/>
          </a:solidFill>
          <a:ln w="12700">
            <a:solidFill>
              <a:srgbClr val="2F25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" y="53492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0141A"/>
          </a:solidFill>
          <a:ln w="12700">
            <a:solidFill>
              <a:srgbClr val="6136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" y="54041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8C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1664208" y="5349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视觉上紫框 / 卡片 / Glow 权重过高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5486400" y="53583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6F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25312" y="53492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211C"/>
          </a:solidFill>
          <a:ln w="12700">
            <a:solidFill>
              <a:srgbClr val="3265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54041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ED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693408" y="5349240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Graphite + restrained violet；减少边框，提升空间与层级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713232" y="6144768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这不是“推倒重做”。核心是：保留 runtime authority，重做产品层级和视觉编排。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ACCEPTANCE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最终验收标准与 North Star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完成不等于“技术能跑”。产品、桌面原生、视觉、真实发送与上下文连续性必须同时成立。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783080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14111B"/>
          </a:solidFill>
          <a:ln w="12700">
            <a:solidFill>
              <a:srgbClr val="35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7510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一个主导航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1463040" y="22311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没有第二套产品级 sidebar；Context Pane 只能是对象 / 筛选 / 视图。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54496" y="1783080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14111B"/>
          </a:solidFill>
          <a:ln w="12700">
            <a:solidFill>
              <a:srgbClr val="3529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97510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22592" y="1938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默认窗口成立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022592" y="22311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首屏完成核心对话任务；不是长网页；Pane 各自滚动。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94944" y="3008376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14111B"/>
          </a:solidFill>
          <a:ln w="12700">
            <a:solidFill>
              <a:srgbClr val="352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0040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1638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全部能力服务对话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1463040" y="34564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关系、记忆、目标、翻译、模型、Voice、Media、Presence、Learning 均有明确对话入口与时机。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54496" y="3008376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14111B"/>
          </a:solidFill>
          <a:ln w="12700">
            <a:solidFill>
              <a:srgbClr val="352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320040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22592" y="31638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authority 不变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7022592" y="34564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Element / Matrix timeline、composer、send 继续是真实通信权威。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94944" y="4233672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14111B"/>
          </a:solidFill>
          <a:ln w="12700">
            <a:solidFill>
              <a:srgbClr val="3529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4256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高级感可验收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1463040" y="46817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Premium calm、克制紫色、少卡片少噪声；Windows 100/125/150 均视觉连续。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254496" y="4233672"/>
            <a:ext cx="5175504" cy="969264"/>
          </a:xfrm>
          <a:prstGeom prst="roundRect">
            <a:avLst>
              <a:gd name="adj" fmla="val 13208"/>
            </a:avLst>
          </a:prstGeom>
          <a:solidFill>
            <a:srgbClr val="20162B"/>
          </a:solidFill>
          <a:ln w="12700">
            <a:solidFill>
              <a:srgbClr val="7B52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44256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22592" y="4389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用户终验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7022592" y="46817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每轮视觉由用户截图验收；用户确认后才进入下一轮。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94944" y="5596128"/>
            <a:ext cx="10954512" cy="621792"/>
          </a:xfrm>
          <a:prstGeom prst="roundRect">
            <a:avLst>
              <a:gd name="adj" fmla="val 20588"/>
            </a:avLst>
          </a:prstGeom>
          <a:solidFill>
            <a:srgbClr val="2A1B39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3.9015114283931116e+123" dist="5.2020152378574823e+123" dir="9.948326387433002e+144">
              <a:srgbClr val="000000">
                <a:alpha val="2.9999999999999996e+14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0976" y="5797296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North Star：言策知道这个人是谁，记得发生过什么，理解此刻说了什么，知道怎样回复更合适，并能用最合适的方式帮助我真正发出去。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BASIS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设计依据与落地边界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本方案不是凭空重画 UI，而是把当前已开发能力、GitHub Product authority、Windows 实机问题和你本轮确认的“视觉终验由用户负责”统一成一个可执行目标。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938528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20756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Living Relationship OS Design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13632" y="2066544"/>
            <a:ext cx="7278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Experience Shell P0：People first；Person / Relationship World → Conversation；AI 默认隐形；成熟 runtime authority 全部保留。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94944" y="2926080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272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30632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Final Controller #1051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13632" y="3054096"/>
            <a:ext cx="7278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唯一主导航、真实 Element timeline/composer、Windows chrome/caption safe area、默认窗口与 100/125/150 实机验证属于 release boundary。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94944" y="3913632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05079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当前实现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13632" y="4041648"/>
            <a:ext cx="7278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ProductExperienceShell、RelationshipAssistant、BilingualSearchPanel、ProductComposerAccessory、MediaWorkspace、VoiceWorkspace、PresenceWorkspace、LearningWorkspace 等已落地能力。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94944" y="4901184"/>
            <a:ext cx="10972800" cy="749808"/>
          </a:xfrm>
          <a:prstGeom prst="roundRect">
            <a:avLst>
              <a:gd name="adj" fmla="val 17073"/>
            </a:avLst>
          </a:prstGeom>
          <a:solidFill>
            <a:srgbClr val="121018"/>
          </a:solidFill>
          <a:ln w="12700">
            <a:solidFill>
              <a:srgbClr val="30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503834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0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本轮设计约定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13632" y="5029200"/>
            <a:ext cx="7278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AAA1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视觉由用户最终验收；每轮截图指出问题 → 修复 → 再验收；未确认不跨轮推进。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713232" y="60533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D8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下一步：先由你确认这套 PPT 是否准确表达最终产品方向；确认后再进入 Figma 逐屏设计与后续代码执行。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79B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Yance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言策 Final Desktop Experience Design — 一场对话，调动整个言策</dc:title>
  <dc:subject>Yance Final Desktop Experience Design</dc:subject>
  <dc:creator>OpenAI</dc:creator>
  <cp:lastModifiedBy>OpenAI</cp:lastModifiedBy>
  <cp:revision>1</cp:revision>
  <dcterms:created xsi:type="dcterms:W3CDTF">2026-09-21T04:48:39Z</dcterms:created>
  <dcterms:modified xsi:type="dcterms:W3CDTF">2026-09-21T04:48:39Z</dcterms:modified>
</cp:coreProperties>
</file>